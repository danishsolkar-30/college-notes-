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0511"/>
            <a:ext cx="8686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dirty="0">
                <a:solidFill>
                  <a:srgbClr val="F8FAFC"/>
                </a:solidFill>
                <a:latin typeface="Aptos"/>
              </a:rPr>
              <a:t>BUSINESS MODEL CANVAS</a:t>
            </a:r>
            <a:r>
              <a:rPr lang="en-IN" sz="1900" b="1" dirty="0">
                <a:solidFill>
                  <a:srgbClr val="F8FAFC"/>
                </a:solidFill>
                <a:latin typeface="Aptos"/>
              </a:rPr>
              <a:t> :- </a:t>
            </a:r>
            <a:r>
              <a:rPr lang="en-IN" sz="2000" b="1" dirty="0">
                <a:solidFill>
                  <a:schemeClr val="accent5"/>
                </a:solidFill>
                <a:latin typeface="Aptos"/>
              </a:rPr>
              <a:t>Unified Study Resource Portal </a:t>
            </a:r>
            <a:endParaRPr sz="1900" b="1" dirty="0">
              <a:solidFill>
                <a:schemeClr val="accent5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056" y="621792"/>
            <a:ext cx="89611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1BDD2"/>
                </a:solidFill>
                <a:latin typeface="Aptos"/>
              </a:rPr>
              <a:t>•  Free • Community-driven • Web +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83464"/>
            <a:ext cx="1810512" cy="502920"/>
          </a:xfrm>
          <a:prstGeom prst="roundRect">
            <a:avLst/>
          </a:prstGeom>
          <a:solidFill>
            <a:srgbClr val="192337"/>
          </a:solidFill>
          <a:ln>
            <a:solidFill>
              <a:srgbClr val="3A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12680" y="425196"/>
            <a:ext cx="1627632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CDD8EB"/>
                </a:solidFill>
                <a:latin typeface="Aptos"/>
              </a:rPr>
              <a:t>OPEN KNOWLEDGE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51560"/>
            <a:ext cx="2249424" cy="423367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54864" cy="4233672"/>
          </a:xfrm>
          <a:prstGeom prst="rect">
            <a:avLst/>
          </a:prstGeom>
          <a:solidFill>
            <a:srgbClr val="4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48640" y="1207007"/>
            <a:ext cx="347472" cy="347472"/>
          </a:xfrm>
          <a:prstGeom prst="ellipse">
            <a:avLst/>
          </a:prstGeom>
          <a:solidFill>
            <a:srgbClr val="4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211579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179576"/>
            <a:ext cx="14996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61D2D"/>
                </a:solidFill>
                <a:latin typeface="Aptos"/>
              </a:rPr>
              <a:t>KEY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598430"/>
            <a:ext cx="2194560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Colleges &amp; universities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Student communities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Educators &amp; subject experts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Open-source / cloud providers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6624" y="1051560"/>
            <a:ext cx="2249424" cy="18470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06624" y="1051560"/>
            <a:ext cx="54864" cy="1847088"/>
          </a:xfrm>
          <a:prstGeom prst="rect">
            <a:avLst/>
          </a:prstGeom>
          <a:solidFill>
            <a:srgbClr val="2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871216" y="1207007"/>
            <a:ext cx="347472" cy="347472"/>
          </a:xfrm>
          <a:prstGeom prst="ellipse">
            <a:avLst/>
          </a:prstGeom>
          <a:solidFill>
            <a:srgbClr val="2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71216" y="1240549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179576"/>
            <a:ext cx="14996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61D2D"/>
                </a:solidFill>
                <a:latin typeface="Aptos"/>
              </a:rPr>
              <a:t>KEY ACTIVITIES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1598430"/>
            <a:ext cx="2194560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Collect &amp; organize notes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Moderate and verify resources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Maintain web &amp; mobile platform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Improve search &amp; 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06624" y="2971800"/>
            <a:ext cx="2249424" cy="231343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06624" y="2971800"/>
            <a:ext cx="54864" cy="2313432"/>
          </a:xfrm>
          <a:prstGeom prst="rect">
            <a:avLst/>
          </a:prstGeom>
          <a:solidFill>
            <a:srgbClr val="26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871216" y="3127248"/>
            <a:ext cx="347472" cy="347472"/>
          </a:xfrm>
          <a:prstGeom prst="ellipse">
            <a:avLst/>
          </a:prstGeom>
          <a:solidFill>
            <a:srgbClr val="26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71216" y="3150403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099816"/>
            <a:ext cx="14996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1D2D"/>
                </a:solidFill>
                <a:latin typeface="Aptos"/>
              </a:rPr>
              <a:t>KEY RESOURCES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3638722"/>
            <a:ext cx="219456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Community-created study notes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Platform, database &amp; cloud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Development &amp; moderation team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Search / tagging infrastructure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1051560"/>
            <a:ext cx="2249424" cy="423367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0" y="1051560"/>
            <a:ext cx="54864" cy="4233672"/>
          </a:xfrm>
          <a:prstGeom prst="rect">
            <a:avLst/>
          </a:prstGeom>
          <a:solidFill>
            <a:srgbClr val="FF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193792" y="1207007"/>
            <a:ext cx="347472" cy="347472"/>
          </a:xfrm>
          <a:prstGeom prst="ellipse">
            <a:avLst/>
          </a:prstGeom>
          <a:solidFill>
            <a:srgbClr val="FF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93792" y="1223091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4416" y="1179576"/>
            <a:ext cx="14996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1D2D"/>
                </a:solidFill>
                <a:latin typeface="Aptos"/>
              </a:rPr>
              <a:t>VALUE PROPOSITION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1761050"/>
            <a:ext cx="2194560" cy="180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One unified place for study resources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Free access for every learner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Anyone can contribute notes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Searchable, organized &amp; easy to discover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Web + mobile access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Community knowledge sharing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6" y="1051560"/>
            <a:ext cx="2249424" cy="18470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51776" y="1051560"/>
            <a:ext cx="54864" cy="1847088"/>
          </a:xfrm>
          <a:prstGeom prst="rect">
            <a:avLst/>
          </a:prstGeom>
          <a:solidFill>
            <a:srgbClr val="A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16368" y="1207007"/>
            <a:ext cx="347472" cy="347472"/>
          </a:xfrm>
          <a:prstGeom prst="ellipse">
            <a:avLst/>
          </a:prstGeom>
          <a:solidFill>
            <a:srgbClr val="A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07224" y="1230717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1179576"/>
            <a:ext cx="14996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1D2D"/>
                </a:solidFill>
                <a:latin typeface="Aptos"/>
              </a:rPr>
              <a:t>CUSTOMER RELATIONSHIPS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687067"/>
            <a:ext cx="2194560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Community-driven participation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Ratings, feedback &amp; reporting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Contributor recognition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Support &amp; FAQs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51776" y="2971800"/>
            <a:ext cx="2249424" cy="231343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51776" y="2971800"/>
            <a:ext cx="54864" cy="2313432"/>
          </a:xfrm>
          <a:prstGeom prst="rect">
            <a:avLst/>
          </a:prstGeom>
          <a:solidFill>
            <a:srgbClr val="4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516368" y="3127248"/>
            <a:ext cx="347472" cy="347472"/>
          </a:xfrm>
          <a:prstGeom prst="ellipse">
            <a:avLst/>
          </a:prstGeom>
          <a:solidFill>
            <a:srgbClr val="4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16368" y="3131820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6992" y="3099816"/>
            <a:ext cx="14996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1D2D"/>
                </a:solidFill>
                <a:latin typeface="Aptos"/>
              </a:rPr>
              <a:t>CHANNELS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3585797"/>
            <a:ext cx="2194560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Website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Android / iOS app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Campus communities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Social media &amp; referrals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4352" y="1051560"/>
            <a:ext cx="2249424" cy="423367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674352" y="1051560"/>
            <a:ext cx="54864" cy="4233672"/>
          </a:xfrm>
          <a:prstGeom prst="rect">
            <a:avLst/>
          </a:prstGeom>
          <a:solidFill>
            <a:srgbClr val="F05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838944" y="1207007"/>
            <a:ext cx="347472" cy="347472"/>
          </a:xfrm>
          <a:prstGeom prst="ellipse">
            <a:avLst/>
          </a:prstGeom>
          <a:solidFill>
            <a:srgbClr val="F05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38944" y="1240549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59568" y="1179576"/>
            <a:ext cx="14996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1D2D"/>
                </a:solidFill>
                <a:latin typeface="Aptos"/>
              </a:rPr>
              <a:t>CUSTOMER SEGMENTS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29216" y="1761050"/>
            <a:ext cx="219456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School &amp; college students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University learners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Competitive-exam aspirants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Self-learners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Note contributors / educators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4048" y="5440680"/>
            <a:ext cx="5623560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84048" y="5440680"/>
            <a:ext cx="54864" cy="960120"/>
          </a:xfrm>
          <a:prstGeom prst="rect">
            <a:avLst/>
          </a:prstGeom>
          <a:solidFill>
            <a:srgbClr val="677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48640" y="5596128"/>
            <a:ext cx="347472" cy="347472"/>
          </a:xfrm>
          <a:prstGeom prst="ellipse">
            <a:avLst/>
          </a:prstGeom>
          <a:solidFill>
            <a:srgbClr val="677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5600700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" y="5568696"/>
            <a:ext cx="487375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1D2D"/>
                </a:solidFill>
                <a:latin typeface="Aptos"/>
              </a:rPr>
              <a:t>COST STRUCTURE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1352" y="5856040"/>
            <a:ext cx="4931664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161D2D"/>
                </a:solidFill>
                <a:latin typeface="Aptos"/>
              </a:defRPr>
            </a:pPr>
            <a:r>
              <a:rPr lang="en-IN" sz="1100" dirty="0"/>
              <a:t>• </a:t>
            </a:r>
            <a:r>
              <a:rPr sz="1100" dirty="0"/>
              <a:t>Hosting &amp; cloud • App / web development • Moderation </a:t>
            </a:r>
            <a:endParaRPr lang="en-IN" sz="1100" dirty="0"/>
          </a:p>
          <a:p>
            <a:pPr>
              <a:spcAft>
                <a:spcPts val="300"/>
              </a:spcAft>
              <a:defRPr sz="86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• Security &amp; maintenance • Marketing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80760" y="5440680"/>
            <a:ext cx="5696712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080760" y="5440680"/>
            <a:ext cx="54864" cy="960120"/>
          </a:xfrm>
          <a:prstGeom prst="rect">
            <a:avLst/>
          </a:prstGeom>
          <a:solidFill>
            <a:srgbClr val="F2C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245352" y="5596128"/>
            <a:ext cx="347472" cy="347472"/>
          </a:xfrm>
          <a:prstGeom prst="ellipse">
            <a:avLst/>
          </a:prstGeom>
          <a:solidFill>
            <a:srgbClr val="F2C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45352" y="5600700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$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65976" y="5568696"/>
            <a:ext cx="494690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1D2D"/>
                </a:solidFill>
                <a:latin typeface="Aptos"/>
              </a:rPr>
              <a:t>REVENUE STREAMS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0736" y="5840059"/>
            <a:ext cx="498957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161D2D"/>
                </a:solidFill>
                <a:latin typeface="Aptos"/>
              </a:defRPr>
            </a:pPr>
            <a:r>
              <a:rPr lang="en-IN" sz="1100" dirty="0"/>
              <a:t>• </a:t>
            </a:r>
            <a:r>
              <a:rPr sz="1100" dirty="0"/>
              <a:t>Voluntary donations • Grants / education funding • Ethical sponsorships </a:t>
            </a:r>
            <a:endParaRPr lang="en-IN" sz="1100" dirty="0"/>
          </a:p>
          <a:p>
            <a:pPr>
              <a:spcAft>
                <a:spcPts val="300"/>
              </a:spcAft>
              <a:defRPr sz="860">
                <a:solidFill>
                  <a:srgbClr val="161D2D"/>
                </a:solidFill>
                <a:latin typeface="Aptos"/>
              </a:defRPr>
            </a:pPr>
            <a:r>
              <a:rPr sz="1100" dirty="0"/>
              <a:t>• Optional institutional partnerships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" y="6565392"/>
            <a:ext cx="11155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9AA6BC"/>
                </a:solidFill>
                <a:latin typeface="Aptos"/>
              </a:rPr>
              <a:t>CORE IDEA:  Make quality study material accessible, organized and shareable — without charging learners.</a:t>
            </a:r>
          </a:p>
        </p:txBody>
      </p:sp>
      <p:pic>
        <p:nvPicPr>
          <p:cNvPr id="63" name="Graphic 62" descr="Books with solid fill">
            <a:extLst>
              <a:ext uri="{FF2B5EF4-FFF2-40B4-BE49-F238E27FC236}">
                <a16:creationId xmlns:a16="http://schemas.microsoft.com/office/drawing/2014/main" id="{2E49FF31-49C4-A336-AF98-B7CE275270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0" y="6257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204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Danish</dc:creator>
  <cp:keywords/>
  <dc:description>generated using python-pptx</dc:description>
  <cp:lastModifiedBy>Danish Solkar</cp:lastModifiedBy>
  <cp:revision>4</cp:revision>
  <dcterms:created xsi:type="dcterms:W3CDTF">2013-01-27T09:14:16Z</dcterms:created>
  <dcterms:modified xsi:type="dcterms:W3CDTF">2026-09-06T15:21:22Z</dcterms:modified>
  <cp:category/>
</cp:coreProperties>
</file>